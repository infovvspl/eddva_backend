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F2E"/>
        </a:solidFill>
      </p:bgPr>
    </p:bg>
    <p:spTree>
      <p:nvGrpSpPr>
        <p:cNvPr id="1" name=""/>
        <p:cNvGrpSpPr/>
        <p:nvPr/>
      </p:nvGrpSpPr>
      <p:grpSpPr>
        <a:xfrm>
          <a:off x="0" y="0"/>
          <a:ext cx="0" cy="0"/>
          <a:chOff x="0" y="0"/>
          <a:chExt cx="0" cy="0"/>
        </a:xfrm>
      </p:grpSpPr>
      <p:sp>
        <p:nvSpPr>
          <p:cNvPr id="2" name="Shape 0"/>
          <p:cNvSpPr/>
          <p:nvPr/>
        </p:nvSpPr>
        <p:spPr>
          <a:xfrm>
            <a:off x="0" y="0"/>
            <a:ext cx="12188952" cy="4754880"/>
          </a:xfrm>
          <a:prstGeom prst="rect">
            <a:avLst/>
          </a:prstGeom>
          <a:solidFill>
            <a:srgbClr val="0F766E"/>
          </a:solidFill>
          <a:ln w="12700">
            <a:solidFill>
              <a:srgbClr val="0F766E"/>
            </a:solidFill>
            <a:prstDash val="solid"/>
          </a:ln>
        </p:spPr>
      </p:sp>
      <p:sp>
        <p:nvSpPr>
          <p:cNvPr id="3" name="Shape 1"/>
          <p:cNvSpPr/>
          <p:nvPr/>
        </p:nvSpPr>
        <p:spPr>
          <a:xfrm>
            <a:off x="-731520" y="-731520"/>
            <a:ext cx="3200400" cy="3200400"/>
          </a:xfrm>
          <a:prstGeom prst="ellipse">
            <a:avLst/>
          </a:prstGeom>
          <a:solidFill>
            <a:srgbClr val="FFFFFF">
              <a:alpha val="10000"/>
            </a:srgbClr>
          </a:solidFill>
          <a:ln w="12700">
            <a:solidFill>
              <a:srgbClr val="FFFFFF">
                <a:alpha val="10000"/>
              </a:srgbClr>
            </a:solidFill>
            <a:prstDash val="solid"/>
          </a:ln>
        </p:spPr>
      </p:sp>
      <p:sp>
        <p:nvSpPr>
          <p:cNvPr id="4" name="Shape 2"/>
          <p:cNvSpPr/>
          <p:nvPr/>
        </p:nvSpPr>
        <p:spPr>
          <a:xfrm>
            <a:off x="9601200" y="2286000"/>
            <a:ext cx="3657600" cy="3657600"/>
          </a:xfrm>
          <a:prstGeom prst="ellipse">
            <a:avLst/>
          </a:prstGeom>
          <a:solidFill>
            <a:srgbClr val="FFFFFF">
              <a:alpha val="10000"/>
            </a:srgbClr>
          </a:solidFill>
          <a:ln w="12700">
            <a:solidFill>
              <a:srgbClr val="FFFFFF">
                <a:alpha val="10000"/>
              </a:srgbClr>
            </a:solidFill>
            <a:prstDash val="solid"/>
          </a:ln>
        </p:spPr>
      </p:sp>
      <p:sp>
        <p:nvSpPr>
          <p:cNvPr id="5" name="Shape 3"/>
          <p:cNvSpPr/>
          <p:nvPr/>
        </p:nvSpPr>
        <p:spPr>
          <a:xfrm>
            <a:off x="5029200" y="-1371600"/>
            <a:ext cx="2286000" cy="2286000"/>
          </a:xfrm>
          <a:prstGeom prst="ellipse">
            <a:avLst/>
          </a:prstGeom>
          <a:solidFill>
            <a:srgbClr val="FFFFFF">
              <a:alpha val="8000"/>
            </a:srgbClr>
          </a:solidFill>
          <a:ln w="12700">
            <a:solidFill>
              <a:srgbClr val="FFFFFF">
                <a:alpha val="8000"/>
              </a:srgbClr>
            </a:solidFill>
            <a:prstDash val="solid"/>
          </a:ln>
        </p:spPr>
      </p:sp>
      <p:sp>
        <p:nvSpPr>
          <p:cNvPr id="6" name="Shape 4"/>
          <p:cNvSpPr/>
          <p:nvPr/>
        </p:nvSpPr>
        <p:spPr>
          <a:xfrm>
            <a:off x="640080" y="457200"/>
            <a:ext cx="2926080" cy="457200"/>
          </a:xfrm>
          <a:prstGeom prst="roundRect">
            <a:avLst>
              <a:gd name="adj" fmla="val 12000"/>
            </a:avLst>
          </a:prstGeom>
          <a:solidFill>
            <a:srgbClr val="FFFFFF">
              <a:alpha val="20000"/>
            </a:srgbClr>
          </a:solidFill>
          <a:ln w="12700">
            <a:solidFill>
              <a:srgbClr val="FFFFFF">
                <a:alpha val="30000"/>
              </a:srgbClr>
            </a:solidFill>
            <a:prstDash val="solid"/>
          </a:ln>
        </p:spPr>
      </p:sp>
      <p:sp>
        <p:nvSpPr>
          <p:cNvPr id="7" name="Text 5"/>
          <p:cNvSpPr/>
          <p:nvPr/>
        </p:nvSpPr>
        <p:spPr>
          <a:xfrm>
            <a:off x="685800" y="502920"/>
            <a:ext cx="2834640" cy="3657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CBSE  ·  Class 6</a:t>
            </a:r>
            <a:endParaRPr lang="en-US" sz="1200" dirty="0"/>
          </a:p>
        </p:txBody>
      </p:sp>
      <p:sp>
        <p:nvSpPr>
          <p:cNvPr id="8" name="Shape 6"/>
          <p:cNvSpPr/>
          <p:nvPr/>
        </p:nvSpPr>
        <p:spPr>
          <a:xfrm>
            <a:off x="8595360" y="457200"/>
            <a:ext cx="2926080" cy="457200"/>
          </a:xfrm>
          <a:prstGeom prst="roundRect">
            <a:avLst>
              <a:gd name="adj" fmla="val 12000"/>
            </a:avLst>
          </a:prstGeom>
          <a:solidFill>
            <a:srgbClr val="FFFFFF">
              <a:alpha val="20000"/>
            </a:srgbClr>
          </a:solidFill>
          <a:ln w="12700">
            <a:solidFill>
              <a:srgbClr val="FFFFFF">
                <a:alpha val="30000"/>
              </a:srgbClr>
            </a:solidFill>
            <a:prstDash val="solid"/>
          </a:ln>
        </p:spPr>
      </p:sp>
      <p:sp>
        <p:nvSpPr>
          <p:cNvPr id="9" name="Text 7"/>
          <p:cNvSpPr/>
          <p:nvPr/>
        </p:nvSpPr>
        <p:spPr>
          <a:xfrm>
            <a:off x="8641080" y="502920"/>
            <a:ext cx="2834640" cy="365760"/>
          </a:xfrm>
          <a:prstGeom prst="rect">
            <a:avLst/>
          </a:prstGeom>
          <a:noFill/>
          <a:ln/>
        </p:spPr>
        <p:txBody>
          <a:bodyPr wrap="square"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  Science</a:t>
            </a:r>
            <a:endParaRPr lang="en-US" sz="1200" dirty="0"/>
          </a:p>
        </p:txBody>
      </p:sp>
      <p:sp>
        <p:nvSpPr>
          <p:cNvPr id="10" name="Shape 8"/>
          <p:cNvSpPr/>
          <p:nvPr/>
        </p:nvSpPr>
        <p:spPr>
          <a:xfrm>
            <a:off x="640080" y="1188720"/>
            <a:ext cx="10881360" cy="0"/>
          </a:xfrm>
          <a:prstGeom prst="line">
            <a:avLst/>
          </a:prstGeom>
          <a:noFill/>
          <a:ln w="12700">
            <a:solidFill>
              <a:srgbClr val="FFFFFF">
                <a:alpha val="40000"/>
              </a:srgbClr>
            </a:solidFill>
            <a:prstDash val="solid"/>
          </a:ln>
        </p:spPr>
      </p:sp>
      <p:sp>
        <p:nvSpPr>
          <p:cNvPr id="11" name="Text 9"/>
          <p:cNvSpPr/>
          <p:nvPr/>
        </p:nvSpPr>
        <p:spPr>
          <a:xfrm>
            <a:off x="548640" y="1417320"/>
            <a:ext cx="11064240" cy="1645920"/>
          </a:xfrm>
          <a:prstGeom prst="rect">
            <a:avLst/>
          </a:prstGeom>
          <a:noFill/>
          <a:ln/>
        </p:spPr>
        <p:txBody>
          <a:bodyPr wrap="square" rtlCol="0" anchor="ctr"/>
          <a:lstStyle/>
          <a:p>
            <a:pPr algn="ctr" indent="0" marL="0">
              <a:buNone/>
            </a:pPr>
            <a:r>
              <a:rPr lang="en-US" sz="3600" b="1" dirty="0">
                <a:solidFill>
                  <a:srgbClr val="FFFFFF"/>
                </a:solidFill>
                <a:latin typeface="Aptos Display" pitchFamily="34" charset="0"/>
                <a:ea typeface="Aptos Display" pitchFamily="34" charset="-122"/>
                <a:cs typeface="Aptos Display" pitchFamily="34" charset="-120"/>
              </a:rPr>
              <a:t>The Solar System</a:t>
            </a:r>
            <a:endParaRPr lang="en-US" sz="3600" dirty="0"/>
          </a:p>
        </p:txBody>
      </p:sp>
      <p:sp>
        <p:nvSpPr>
          <p:cNvPr id="12" name="Text 10"/>
          <p:cNvSpPr/>
          <p:nvPr/>
        </p:nvSpPr>
        <p:spPr>
          <a:xfrm>
            <a:off x="548640" y="3154680"/>
            <a:ext cx="11064240" cy="365760"/>
          </a:xfrm>
          <a:prstGeom prst="rect">
            <a:avLst/>
          </a:prstGeom>
          <a:noFill/>
          <a:ln/>
        </p:spPr>
        <p:txBody>
          <a:bodyPr wrap="square" rtlCol="0" anchor="ctr"/>
          <a:lstStyle/>
          <a:p>
            <a:pPr algn="ctr" indent="0" marL="0">
              <a:buNone/>
            </a:pPr>
            <a:r>
              <a:rPr lang="en-US" sz="1400" i="1" dirty="0">
                <a:solidFill>
                  <a:srgbClr val="FFFFFF">
                    <a:alpha val="80000"/>
                  </a:srgbClr>
                </a:solidFill>
                <a:latin typeface="Aptos" pitchFamily="34" charset="0"/>
                <a:ea typeface="Aptos" pitchFamily="34" charset="-122"/>
                <a:cs typeface="Aptos" pitchFamily="34" charset="-120"/>
              </a:rPr>
              <a:t>An Educational Presentation</a:t>
            </a:r>
            <a:endParaRPr lang="en-US" sz="1400" dirty="0"/>
          </a:p>
        </p:txBody>
      </p:sp>
      <p:sp>
        <p:nvSpPr>
          <p:cNvPr id="13" name="Shape 11"/>
          <p:cNvSpPr/>
          <p:nvPr/>
        </p:nvSpPr>
        <p:spPr>
          <a:xfrm>
            <a:off x="0" y="4754880"/>
            <a:ext cx="12188952" cy="2176272"/>
          </a:xfrm>
          <a:prstGeom prst="rect">
            <a:avLst/>
          </a:prstGeom>
          <a:solidFill>
            <a:srgbClr val="042F2E"/>
          </a:solidFill>
          <a:ln w="12700">
            <a:solidFill>
              <a:srgbClr val="042F2E"/>
            </a:solidFill>
            <a:prstDash val="solid"/>
          </a:ln>
        </p:spPr>
      </p:sp>
      <p:sp>
        <p:nvSpPr>
          <p:cNvPr id="14" name="Text 12"/>
          <p:cNvSpPr/>
          <p:nvPr/>
        </p:nvSpPr>
        <p:spPr>
          <a:xfrm>
            <a:off x="640080" y="5029200"/>
            <a:ext cx="2286000" cy="457200"/>
          </a:xfrm>
          <a:prstGeom prst="rect">
            <a:avLst/>
          </a:prstGeom>
          <a:noFill/>
          <a:ln/>
        </p:spPr>
        <p:txBody>
          <a:bodyPr wrap="square" rtlCol="0" anchor="ctr"/>
          <a:lstStyle/>
          <a:p>
            <a:pPr indent="0" marL="0">
              <a:buNone/>
            </a:pPr>
            <a:r>
              <a:rPr lang="en-US" sz="1300" b="1" dirty="0">
                <a:solidFill>
                  <a:srgbClr val="14B8A6"/>
                </a:solidFill>
                <a:latin typeface="Aptos" pitchFamily="34" charset="0"/>
                <a:ea typeface="Aptos" pitchFamily="34" charset="-122"/>
                <a:cs typeface="Aptos" pitchFamily="34" charset="-120"/>
              </a:rPr>
              <a:t>8 Slides</a:t>
            </a:r>
            <a:endParaRPr lang="en-US" sz="1300" dirty="0"/>
          </a:p>
        </p:txBody>
      </p:sp>
      <p:sp>
        <p:nvSpPr>
          <p:cNvPr id="15" name="Shape 13"/>
          <p:cNvSpPr/>
          <p:nvPr/>
        </p:nvSpPr>
        <p:spPr>
          <a:xfrm>
            <a:off x="3200400" y="5029200"/>
            <a:ext cx="5760720" cy="457200"/>
          </a:xfrm>
          <a:prstGeom prst="roundRect">
            <a:avLst>
              <a:gd name="adj" fmla="val 10000"/>
            </a:avLst>
          </a:prstGeom>
          <a:solidFill>
            <a:srgbClr val="FFFFFF">
              <a:alpha val="10000"/>
            </a:srgbClr>
          </a:solidFill>
          <a:ln w="12700">
            <a:solidFill>
              <a:srgbClr val="FFFFFF">
                <a:alpha val="20000"/>
              </a:srgbClr>
            </a:solidFill>
            <a:prstDash val="solid"/>
          </a:ln>
        </p:spPr>
      </p:sp>
      <p:sp>
        <p:nvSpPr>
          <p:cNvPr id="16" name="Text 14"/>
          <p:cNvSpPr/>
          <p:nvPr/>
        </p:nvSpPr>
        <p:spPr>
          <a:xfrm>
            <a:off x="3200400" y="5047488"/>
            <a:ext cx="5760720" cy="420624"/>
          </a:xfrm>
          <a:prstGeom prst="rect">
            <a:avLst/>
          </a:prstGeom>
          <a:noFill/>
          <a:ln/>
        </p:spPr>
        <p:txBody>
          <a:bodyPr wrap="square" rtlCol="0" anchor="ctr"/>
          <a:lstStyle/>
          <a:p>
            <a:pPr algn="ctr" indent="0" marL="0">
              <a:buNone/>
            </a:pPr>
            <a:r>
              <a:rPr lang="en-US" sz="1100" dirty="0">
                <a:solidFill>
                  <a:srgbClr val="FFFFFF">
                    <a:alpha val="90000"/>
                  </a:srgbClr>
                </a:solidFill>
                <a:latin typeface="Aptos" pitchFamily="34" charset="0"/>
                <a:ea typeface="Aptos" pitchFamily="34" charset="-122"/>
                <a:cs typeface="Aptos" pitchFamily="34" charset="-120"/>
              </a:rPr>
              <a:t>🎓  AI Educational Classroom Presentation Generator</a:t>
            </a:r>
            <a:endParaRPr lang="en-US" sz="1100" dirty="0"/>
          </a:p>
        </p:txBody>
      </p:sp>
      <p:sp>
        <p:nvSpPr>
          <p:cNvPr id="17" name="Text 15"/>
          <p:cNvSpPr/>
          <p:nvPr/>
        </p:nvSpPr>
        <p:spPr>
          <a:xfrm>
            <a:off x="11338560" y="5029200"/>
            <a:ext cx="548640" cy="365760"/>
          </a:xfrm>
          <a:prstGeom prst="rect">
            <a:avLst/>
          </a:prstGeom>
          <a:noFill/>
          <a:ln/>
        </p:spPr>
        <p:txBody>
          <a:bodyPr wrap="square" rtlCol="0" anchor="ctr"/>
          <a:lstStyle/>
          <a:p>
            <a:pPr algn="ctr" indent="0" marL="0">
              <a:buNone/>
            </a:pPr>
            <a:r>
              <a:rPr lang="en-US" sz="1200" b="1" dirty="0">
                <a:solidFill>
                  <a:srgbClr val="64748B"/>
                </a:solidFill>
                <a:latin typeface="Aptos" pitchFamily="34" charset="0"/>
                <a:ea typeface="Aptos" pitchFamily="34" charset="-122"/>
                <a:cs typeface="Aptos"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2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Introduction to the Solar System</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Solar System is a collection of celestial objects that orbit around the Sun, including planets, dwarf planets, asteroids, comets, and other smaller bodies.</a:t>
            </a:r>
            <a:endParaRPr lang="en-US" sz="1600" dirty="0"/>
          </a:p>
        </p:txBody>
      </p:sp>
      <p:sp>
        <p:nvSpPr>
          <p:cNvPr id="10" name="Shape 8"/>
          <p:cNvSpPr/>
          <p:nvPr/>
        </p:nvSpPr>
        <p:spPr>
          <a:xfrm>
            <a:off x="3840480" y="256032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1" name="Shape 9"/>
          <p:cNvSpPr/>
          <p:nvPr/>
        </p:nvSpPr>
        <p:spPr>
          <a:xfrm>
            <a:off x="914400" y="2560320"/>
            <a:ext cx="109728" cy="502920"/>
          </a:xfrm>
          <a:prstGeom prst="rect">
            <a:avLst/>
          </a:prstGeom>
          <a:solidFill>
            <a:srgbClr val="0F766E"/>
          </a:solidFill>
          <a:ln w="12700">
            <a:solidFill>
              <a:srgbClr val="0F766E"/>
            </a:solidFill>
            <a:prstDash val="solid"/>
          </a:ln>
        </p:spPr>
      </p:sp>
      <p:sp>
        <p:nvSpPr>
          <p:cNvPr id="12" name="Text 10"/>
          <p:cNvSpPr/>
          <p:nvPr/>
        </p:nvSpPr>
        <p:spPr>
          <a:xfrm>
            <a:off x="4114800" y="269748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Solar System is held together by gravity and is thought to have formed around 4.6 billion years ago from a giant cloud of gas and dust.</a:t>
            </a:r>
            <a:endParaRPr lang="en-US" sz="1600" dirty="0"/>
          </a:p>
        </p:txBody>
      </p:sp>
      <p:sp>
        <p:nvSpPr>
          <p:cNvPr id="13" name="Shape 11"/>
          <p:cNvSpPr/>
          <p:nvPr/>
        </p:nvSpPr>
        <p:spPr>
          <a:xfrm>
            <a:off x="3840480" y="329184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4" name="Shape 12"/>
          <p:cNvSpPr/>
          <p:nvPr/>
        </p:nvSpPr>
        <p:spPr>
          <a:xfrm>
            <a:off x="914400" y="3291840"/>
            <a:ext cx="109728" cy="502920"/>
          </a:xfrm>
          <a:prstGeom prst="rect">
            <a:avLst/>
          </a:prstGeom>
          <a:solidFill>
            <a:srgbClr val="0F766E"/>
          </a:solidFill>
          <a:ln w="12700">
            <a:solidFill>
              <a:srgbClr val="0F766E"/>
            </a:solidFill>
            <a:prstDash val="solid"/>
          </a:ln>
        </p:spPr>
      </p:sp>
      <p:sp>
        <p:nvSpPr>
          <p:cNvPr id="15" name="Text 13"/>
          <p:cNvSpPr/>
          <p:nvPr/>
        </p:nvSpPr>
        <p:spPr>
          <a:xfrm>
            <a:off x="4114800" y="342900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eight planets in our Solar System are Mercury, Mars, Venus, Earth, Neptune, Uranus, Saturn, and Jupiter.</a:t>
            </a:r>
            <a:endParaRPr lang="en-US" sz="1600" dirty="0"/>
          </a:p>
        </p:txBody>
      </p:sp>
      <p:sp>
        <p:nvSpPr>
          <p:cNvPr id="16" name="Shape 14"/>
          <p:cNvSpPr/>
          <p:nvPr/>
        </p:nvSpPr>
        <p:spPr>
          <a:xfrm>
            <a:off x="548640" y="6446520"/>
            <a:ext cx="11064240" cy="0"/>
          </a:xfrm>
          <a:prstGeom prst="line">
            <a:avLst/>
          </a:prstGeom>
          <a:noFill/>
          <a:ln w="12700">
            <a:solidFill>
              <a:srgbClr val="DCE3F1"/>
            </a:solidFill>
            <a:prstDash val="solid"/>
          </a:ln>
        </p:spPr>
      </p:sp>
      <p:sp>
        <p:nvSpPr>
          <p:cNvPr id="17" name="Text 15"/>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8" name="Text 16"/>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3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Introduction to the Solar System (Part 2)</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Understanding the Solar System helps us appreciate the uniqueness of our planet and the potential for life elsewhere in the universe.</a:t>
            </a:r>
            <a:endParaRPr lang="en-US" sz="1600" dirty="0"/>
          </a:p>
        </p:txBody>
      </p:sp>
      <p:sp>
        <p:nvSpPr>
          <p:cNvPr id="10" name="Shape 8"/>
          <p:cNvSpPr/>
          <p:nvPr/>
        </p:nvSpPr>
        <p:spPr>
          <a:xfrm>
            <a:off x="548640" y="6446520"/>
            <a:ext cx="11064240" cy="0"/>
          </a:xfrm>
          <a:prstGeom prst="line">
            <a:avLst/>
          </a:prstGeom>
          <a:noFill/>
          <a:ln w="12700">
            <a:solidFill>
              <a:srgbClr val="DCE3F1"/>
            </a:solidFill>
            <a:prstDash val="solid"/>
          </a:ln>
        </p:spPr>
      </p:sp>
      <p:sp>
        <p:nvSpPr>
          <p:cNvPr id="11" name="Text 9"/>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2" name="Text 10"/>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4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Characteristics of the Sun</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Sun is the center of the Solar System and is the primary source of light and energy for our planet.</a:t>
            </a:r>
            <a:endParaRPr lang="en-US" sz="1600" dirty="0"/>
          </a:p>
        </p:txBody>
      </p:sp>
      <p:sp>
        <p:nvSpPr>
          <p:cNvPr id="10" name="Shape 8"/>
          <p:cNvSpPr/>
          <p:nvPr/>
        </p:nvSpPr>
        <p:spPr>
          <a:xfrm>
            <a:off x="3840480" y="256032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1" name="Shape 9"/>
          <p:cNvSpPr/>
          <p:nvPr/>
        </p:nvSpPr>
        <p:spPr>
          <a:xfrm>
            <a:off x="914400" y="2560320"/>
            <a:ext cx="109728" cy="502920"/>
          </a:xfrm>
          <a:prstGeom prst="rect">
            <a:avLst/>
          </a:prstGeom>
          <a:solidFill>
            <a:srgbClr val="0F766E"/>
          </a:solidFill>
          <a:ln w="12700">
            <a:solidFill>
              <a:srgbClr val="0F766E"/>
            </a:solidFill>
            <a:prstDash val="solid"/>
          </a:ln>
        </p:spPr>
      </p:sp>
      <p:sp>
        <p:nvSpPr>
          <p:cNvPr id="12" name="Text 10"/>
          <p:cNvSpPr/>
          <p:nvPr/>
        </p:nvSpPr>
        <p:spPr>
          <a:xfrm>
            <a:off x="4114800" y="269748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Sun is a massive ball of hot, glowing gas, primarily composed of hydrogen and helium, and its surface temperature is around 5500°C.</a:t>
            </a:r>
            <a:endParaRPr lang="en-US" sz="1600" dirty="0"/>
          </a:p>
        </p:txBody>
      </p:sp>
      <p:sp>
        <p:nvSpPr>
          <p:cNvPr id="13" name="Shape 11"/>
          <p:cNvSpPr/>
          <p:nvPr/>
        </p:nvSpPr>
        <p:spPr>
          <a:xfrm>
            <a:off x="3840480" y="329184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4" name="Shape 12"/>
          <p:cNvSpPr/>
          <p:nvPr/>
        </p:nvSpPr>
        <p:spPr>
          <a:xfrm>
            <a:off x="914400" y="3291840"/>
            <a:ext cx="109728" cy="502920"/>
          </a:xfrm>
          <a:prstGeom prst="rect">
            <a:avLst/>
          </a:prstGeom>
          <a:solidFill>
            <a:srgbClr val="0F766E"/>
          </a:solidFill>
          <a:ln w="12700">
            <a:solidFill>
              <a:srgbClr val="0F766E"/>
            </a:solidFill>
            <a:prstDash val="solid"/>
          </a:ln>
        </p:spPr>
      </p:sp>
      <p:sp>
        <p:nvSpPr>
          <p:cNvPr id="15" name="Text 13"/>
          <p:cNvSpPr/>
          <p:nvPr/>
        </p:nvSpPr>
        <p:spPr>
          <a:xfrm>
            <a:off x="4114800" y="342900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Sun's energy is essential for life on Earth, as it powers photosynthesis, drives the climate, and influences the weather.</a:t>
            </a:r>
            <a:endParaRPr lang="en-US" sz="1600" dirty="0"/>
          </a:p>
        </p:txBody>
      </p:sp>
      <p:sp>
        <p:nvSpPr>
          <p:cNvPr id="16" name="Shape 14"/>
          <p:cNvSpPr/>
          <p:nvPr/>
        </p:nvSpPr>
        <p:spPr>
          <a:xfrm>
            <a:off x="548640" y="6446520"/>
            <a:ext cx="11064240" cy="0"/>
          </a:xfrm>
          <a:prstGeom prst="line">
            <a:avLst/>
          </a:prstGeom>
          <a:noFill/>
          <a:ln w="12700">
            <a:solidFill>
              <a:srgbClr val="DCE3F1"/>
            </a:solidFill>
            <a:prstDash val="solid"/>
          </a:ln>
        </p:spPr>
      </p:sp>
      <p:sp>
        <p:nvSpPr>
          <p:cNvPr id="17" name="Text 15"/>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8" name="Text 16"/>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5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Characteristics of the Sun (Part 2)</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Sun's energy can be harnessed using solar panels and other technologies to provide a sustainable source of power.</a:t>
            </a:r>
            <a:endParaRPr lang="en-US" sz="1600" dirty="0"/>
          </a:p>
        </p:txBody>
      </p:sp>
      <p:sp>
        <p:nvSpPr>
          <p:cNvPr id="10" name="Shape 8"/>
          <p:cNvSpPr/>
          <p:nvPr/>
        </p:nvSpPr>
        <p:spPr>
          <a:xfrm>
            <a:off x="548640" y="6446520"/>
            <a:ext cx="11064240" cy="0"/>
          </a:xfrm>
          <a:prstGeom prst="line">
            <a:avLst/>
          </a:prstGeom>
          <a:noFill/>
          <a:ln w="12700">
            <a:solidFill>
              <a:srgbClr val="DCE3F1"/>
            </a:solidFill>
            <a:prstDash val="solid"/>
          </a:ln>
        </p:spPr>
      </p:sp>
      <p:sp>
        <p:nvSpPr>
          <p:cNvPr id="11" name="Text 9"/>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2" name="Text 10"/>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6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The Formation of the Solar System</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Solar System is thought to have formed around 4.6 billion years ago from a giant cloud of gas and dust called the solar nebula.</a:t>
            </a:r>
            <a:endParaRPr lang="en-US" sz="1600" dirty="0"/>
          </a:p>
        </p:txBody>
      </p:sp>
      <p:sp>
        <p:nvSpPr>
          <p:cNvPr id="10" name="Shape 8"/>
          <p:cNvSpPr/>
          <p:nvPr/>
        </p:nvSpPr>
        <p:spPr>
          <a:xfrm>
            <a:off x="3840480" y="256032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1" name="Shape 9"/>
          <p:cNvSpPr/>
          <p:nvPr/>
        </p:nvSpPr>
        <p:spPr>
          <a:xfrm>
            <a:off x="914400" y="2560320"/>
            <a:ext cx="109728" cy="502920"/>
          </a:xfrm>
          <a:prstGeom prst="rect">
            <a:avLst/>
          </a:prstGeom>
          <a:solidFill>
            <a:srgbClr val="0F766E"/>
          </a:solidFill>
          <a:ln w="12700">
            <a:solidFill>
              <a:srgbClr val="0F766E"/>
            </a:solidFill>
            <a:prstDash val="solid"/>
          </a:ln>
        </p:spPr>
      </p:sp>
      <p:sp>
        <p:nvSpPr>
          <p:cNvPr id="12" name="Text 10"/>
          <p:cNvSpPr/>
          <p:nvPr/>
        </p:nvSpPr>
        <p:spPr>
          <a:xfrm>
            <a:off x="4114800" y="269748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solar nebula collapsed under its own gravity, spinning faster and faster, and eventually formed the Sun and the planets.</a:t>
            </a:r>
            <a:endParaRPr lang="en-US" sz="1600" dirty="0"/>
          </a:p>
        </p:txBody>
      </p:sp>
      <p:sp>
        <p:nvSpPr>
          <p:cNvPr id="13" name="Shape 11"/>
          <p:cNvSpPr/>
          <p:nvPr/>
        </p:nvSpPr>
        <p:spPr>
          <a:xfrm>
            <a:off x="3840480" y="329184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14" name="Shape 12"/>
          <p:cNvSpPr/>
          <p:nvPr/>
        </p:nvSpPr>
        <p:spPr>
          <a:xfrm>
            <a:off x="914400" y="3291840"/>
            <a:ext cx="109728" cy="502920"/>
          </a:xfrm>
          <a:prstGeom prst="rect">
            <a:avLst/>
          </a:prstGeom>
          <a:solidFill>
            <a:srgbClr val="0F766E"/>
          </a:solidFill>
          <a:ln w="12700">
            <a:solidFill>
              <a:srgbClr val="0F766E"/>
            </a:solidFill>
            <a:prstDash val="solid"/>
          </a:ln>
        </p:spPr>
      </p:sp>
      <p:sp>
        <p:nvSpPr>
          <p:cNvPr id="15" name="Text 13"/>
          <p:cNvSpPr/>
          <p:nvPr/>
        </p:nvSpPr>
        <p:spPr>
          <a:xfrm>
            <a:off x="4114800" y="342900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The planets formed from the leftover material in the solar nebula, with the rocky planets like Earth forming close to the Sun and the gas giants like Jupiter forming farther out.</a:t>
            </a:r>
            <a:endParaRPr lang="en-US" sz="1600" dirty="0"/>
          </a:p>
        </p:txBody>
      </p:sp>
      <p:sp>
        <p:nvSpPr>
          <p:cNvPr id="16" name="Shape 14"/>
          <p:cNvSpPr/>
          <p:nvPr/>
        </p:nvSpPr>
        <p:spPr>
          <a:xfrm>
            <a:off x="548640" y="6446520"/>
            <a:ext cx="11064240" cy="0"/>
          </a:xfrm>
          <a:prstGeom prst="line">
            <a:avLst/>
          </a:prstGeom>
          <a:noFill/>
          <a:ln w="12700">
            <a:solidFill>
              <a:srgbClr val="DCE3F1"/>
            </a:solidFill>
            <a:prstDash val="solid"/>
          </a:ln>
        </p:spPr>
      </p:sp>
      <p:sp>
        <p:nvSpPr>
          <p:cNvPr id="17" name="Text 15"/>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8" name="Text 16"/>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7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The Formation of the Solar System (Part 2)</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3840480" y="1828800"/>
            <a:ext cx="5486400" cy="502920"/>
          </a:xfrm>
          <a:prstGeom prst="roundRect">
            <a:avLst>
              <a:gd name="adj" fmla="val 9091"/>
            </a:avLst>
          </a:prstGeom>
          <a:solidFill>
            <a:srgbClr val="FFFFFF"/>
          </a:solidFill>
          <a:ln w="12700">
            <a:solidFill>
              <a:srgbClr val="DCE3F1"/>
            </a:solidFill>
            <a:prstDash val="solid"/>
          </a:ln>
          <a:effectLst>
            <a:outerShdw sx="100000" sy="100000" kx="0" ky="0" algn="bl" rotWithShape="0" blurRad="12700" dist="50800" dir="2700000">
              <a:srgbClr val="999999">
                <a:alpha val="8000"/>
              </a:srgbClr>
            </a:outerShdw>
          </a:effectLst>
        </p:spPr>
      </p:sp>
      <p:sp>
        <p:nvSpPr>
          <p:cNvPr id="8" name="Shape 6"/>
          <p:cNvSpPr/>
          <p:nvPr/>
        </p:nvSpPr>
        <p:spPr>
          <a:xfrm>
            <a:off x="914400" y="1828800"/>
            <a:ext cx="109728" cy="502920"/>
          </a:xfrm>
          <a:prstGeom prst="rect">
            <a:avLst/>
          </a:prstGeom>
          <a:solidFill>
            <a:srgbClr val="0F766E"/>
          </a:solidFill>
          <a:ln w="12700">
            <a:solidFill>
              <a:srgbClr val="0F766E"/>
            </a:solidFill>
            <a:prstDash val="solid"/>
          </a:ln>
        </p:spPr>
      </p:sp>
      <p:sp>
        <p:nvSpPr>
          <p:cNvPr id="9" name="Text 7"/>
          <p:cNvSpPr/>
          <p:nvPr/>
        </p:nvSpPr>
        <p:spPr>
          <a:xfrm>
            <a:off x="4114800" y="1965960"/>
            <a:ext cx="8046720" cy="182880"/>
          </a:xfrm>
          <a:prstGeom prst="rect">
            <a:avLst/>
          </a:prstGeom>
          <a:noFill/>
          <a:ln/>
        </p:spPr>
        <p:txBody>
          <a:bodyPr wrap="square" rtlCol="0" anchor="ctr"/>
          <a:lstStyle/>
          <a:p>
            <a:pPr indent="0" marL="0">
              <a:buNone/>
            </a:pPr>
            <a:r>
              <a:rPr lang="en-US" sz="1600" dirty="0">
                <a:solidFill>
                  <a:srgbClr val="1E293B"/>
                </a:solidFill>
                <a:latin typeface="Aptos" pitchFamily="34" charset="0"/>
                <a:ea typeface="Aptos" pitchFamily="34" charset="-122"/>
                <a:cs typeface="Aptos" pitchFamily="34" charset="-120"/>
              </a:rPr>
              <a:t>Understanding the formation of the Solar System helps us appreciate the complexity and beauty of the universe and the potential for life elsewhere.</a:t>
            </a:r>
            <a:endParaRPr lang="en-US" sz="1600" dirty="0"/>
          </a:p>
        </p:txBody>
      </p:sp>
      <p:sp>
        <p:nvSpPr>
          <p:cNvPr id="10" name="Shape 8"/>
          <p:cNvSpPr/>
          <p:nvPr/>
        </p:nvSpPr>
        <p:spPr>
          <a:xfrm>
            <a:off x="548640" y="6446520"/>
            <a:ext cx="11064240" cy="0"/>
          </a:xfrm>
          <a:prstGeom prst="line">
            <a:avLst/>
          </a:prstGeom>
          <a:noFill/>
          <a:ln w="12700">
            <a:solidFill>
              <a:srgbClr val="DCE3F1"/>
            </a:solidFill>
            <a:prstDash val="solid"/>
          </a:ln>
        </p:spPr>
      </p:sp>
      <p:sp>
        <p:nvSpPr>
          <p:cNvPr id="11" name="Text 9"/>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12" name="Text 10"/>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F766E"/>
          </a:solidFill>
          <a:ln w="12700">
            <a:solidFill>
              <a:srgbClr val="0F766E"/>
            </a:solidFill>
            <a:prstDash val="solid"/>
          </a:ln>
        </p:spPr>
      </p:sp>
      <p:sp>
        <p:nvSpPr>
          <p:cNvPr id="3" name="Text 1"/>
          <p:cNvSpPr/>
          <p:nvPr/>
        </p:nvSpPr>
        <p:spPr>
          <a:xfrm>
            <a:off x="274320" y="73152"/>
            <a:ext cx="6400800" cy="347472"/>
          </a:xfrm>
          <a:prstGeom prst="rect">
            <a:avLst/>
          </a:prstGeom>
          <a:noFill/>
          <a:ln/>
        </p:spPr>
        <p:txBody>
          <a:bodyPr wrap="square" rtlCol="0" anchor="ctr"/>
          <a:lstStyle/>
          <a:p>
            <a:pPr indent="0" marL="0">
              <a:buNone/>
            </a:pPr>
            <a:r>
              <a:rPr lang="en-US" sz="1000" dirty="0">
                <a:solidFill>
                  <a:srgbClr val="FFFFFF">
                    <a:alpha val="80000"/>
                  </a:srgbClr>
                </a:solidFill>
                <a:latin typeface="Aptos" pitchFamily="34" charset="0"/>
                <a:ea typeface="Aptos" pitchFamily="34" charset="-122"/>
                <a:cs typeface="Aptos" pitchFamily="34" charset="-120"/>
              </a:rPr>
              <a:t>Science  ·  Class 6  ·  CBSE</a:t>
            </a:r>
            <a:endParaRPr lang="en-US" sz="1000" dirty="0"/>
          </a:p>
        </p:txBody>
      </p:sp>
      <p:sp>
        <p:nvSpPr>
          <p:cNvPr id="4" name="Text 2"/>
          <p:cNvSpPr/>
          <p:nvPr/>
        </p:nvSpPr>
        <p:spPr>
          <a:xfrm>
            <a:off x="10515600" y="91440"/>
            <a:ext cx="1463040" cy="320040"/>
          </a:xfrm>
          <a:prstGeom prst="rect">
            <a:avLst/>
          </a:prstGeom>
          <a:noFill/>
          <a:ln/>
        </p:spPr>
        <p:txBody>
          <a:bodyPr wrap="square" rtlCol="0" anchor="ctr"/>
          <a:lstStyle/>
          <a:p>
            <a:pPr algn="r" indent="0" marL="0">
              <a:buNone/>
            </a:pPr>
            <a:r>
              <a:rPr lang="en-US" sz="1000" b="1" dirty="0">
                <a:solidFill>
                  <a:srgbClr val="FFFFFF"/>
                </a:solidFill>
                <a:latin typeface="Aptos" pitchFamily="34" charset="0"/>
                <a:ea typeface="Aptos" pitchFamily="34" charset="-122"/>
                <a:cs typeface="Aptos" pitchFamily="34" charset="-120"/>
              </a:rPr>
              <a:t>8 / 8</a:t>
            </a:r>
            <a:endParaRPr lang="en-US" sz="1000" dirty="0"/>
          </a:p>
        </p:txBody>
      </p:sp>
      <p:sp>
        <p:nvSpPr>
          <p:cNvPr id="5" name="Text 3"/>
          <p:cNvSpPr/>
          <p:nvPr/>
        </p:nvSpPr>
        <p:spPr>
          <a:xfrm>
            <a:off x="548640" y="685800"/>
            <a:ext cx="10515600" cy="594360"/>
          </a:xfrm>
          <a:prstGeom prst="rect">
            <a:avLst/>
          </a:prstGeom>
          <a:noFill/>
          <a:ln/>
        </p:spPr>
        <p:txBody>
          <a:bodyPr wrap="square" rtlCol="0" anchor="ctr"/>
          <a:lstStyle/>
          <a:p>
            <a:pPr indent="0" marL="0">
              <a:buNone/>
            </a:pPr>
            <a:r>
              <a:rPr lang="en-US" sz="2200" b="1" dirty="0">
                <a:solidFill>
                  <a:srgbClr val="042F2E"/>
                </a:solidFill>
                <a:latin typeface="Aptos Display" pitchFamily="34" charset="0"/>
                <a:ea typeface="Aptos Display" pitchFamily="34" charset="-122"/>
                <a:cs typeface="Aptos Display" pitchFamily="34" charset="-120"/>
              </a:rPr>
              <a:t>Key Takeaways</a:t>
            </a:r>
            <a:endParaRPr lang="en-US" sz="2200" dirty="0"/>
          </a:p>
        </p:txBody>
      </p:sp>
      <p:sp>
        <p:nvSpPr>
          <p:cNvPr id="6" name="Shape 4"/>
          <p:cNvSpPr/>
          <p:nvPr/>
        </p:nvSpPr>
        <p:spPr>
          <a:xfrm>
            <a:off x="548640" y="1325880"/>
            <a:ext cx="2286000" cy="41148"/>
          </a:xfrm>
          <a:prstGeom prst="rect">
            <a:avLst/>
          </a:prstGeom>
          <a:solidFill>
            <a:srgbClr val="14B8A6"/>
          </a:solidFill>
          <a:ln w="12700">
            <a:solidFill>
              <a:srgbClr val="14B8A6"/>
            </a:solidFill>
            <a:prstDash val="solid"/>
          </a:ln>
        </p:spPr>
      </p:sp>
      <p:sp>
        <p:nvSpPr>
          <p:cNvPr id="7" name="Shape 5"/>
          <p:cNvSpPr/>
          <p:nvPr/>
        </p:nvSpPr>
        <p:spPr>
          <a:xfrm>
            <a:off x="548640" y="1417320"/>
            <a:ext cx="2926080" cy="457200"/>
          </a:xfrm>
          <a:prstGeom prst="roundRect">
            <a:avLst>
              <a:gd name="adj" fmla="val 16000"/>
            </a:avLst>
          </a:prstGeom>
          <a:solidFill>
            <a:srgbClr val="0F766E"/>
          </a:solidFill>
          <a:ln w="12700">
            <a:solidFill>
              <a:srgbClr val="0F766E"/>
            </a:solidFill>
            <a:prstDash val="solid"/>
          </a:ln>
        </p:spPr>
      </p:sp>
      <p:sp>
        <p:nvSpPr>
          <p:cNvPr id="8" name="Text 6"/>
          <p:cNvSpPr/>
          <p:nvPr/>
        </p:nvSpPr>
        <p:spPr>
          <a:xfrm>
            <a:off x="640080" y="1463040"/>
            <a:ext cx="2743200" cy="365760"/>
          </a:xfrm>
          <a:prstGeom prst="rect">
            <a:avLst/>
          </a:prstGeom>
          <a:noFill/>
          <a:ln/>
        </p:spPr>
        <p:txBody>
          <a:bodyPr wrap="square" rtlCol="0" anchor="ct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  Key Takeaways</a:t>
            </a:r>
            <a:endParaRPr lang="en-US" sz="1300" dirty="0"/>
          </a:p>
        </p:txBody>
      </p:sp>
      <p:sp>
        <p:nvSpPr>
          <p:cNvPr id="9" name="Shape 7"/>
          <p:cNvSpPr/>
          <p:nvPr/>
        </p:nvSpPr>
        <p:spPr>
          <a:xfrm>
            <a:off x="548640" y="2011680"/>
            <a:ext cx="5486400" cy="594360"/>
          </a:xfrm>
          <a:prstGeom prst="roundRect">
            <a:avLst>
              <a:gd name="adj" fmla="val 9231"/>
            </a:avLst>
          </a:prstGeom>
          <a:solidFill>
            <a:srgbClr val="FFFFFF"/>
          </a:solidFill>
          <a:ln w="12700">
            <a:solidFill>
              <a:srgbClr val="DCE3F1"/>
            </a:solidFill>
            <a:prstDash val="solid"/>
          </a:ln>
          <a:effectLst>
            <a:outerShdw sx="100000" sy="100000" kx="0" ky="0" algn="bl" rotWithShape="0" blurRad="25400" dist="50800" dir="2700000">
              <a:srgbClr val="999999">
                <a:alpha val="7000"/>
              </a:srgbClr>
            </a:outerShdw>
          </a:effectLst>
        </p:spPr>
      </p:sp>
      <p:sp>
        <p:nvSpPr>
          <p:cNvPr id="10" name="Shape 8"/>
          <p:cNvSpPr/>
          <p:nvPr/>
        </p:nvSpPr>
        <p:spPr>
          <a:xfrm>
            <a:off x="640080" y="2148840"/>
            <a:ext cx="320040" cy="320040"/>
          </a:xfrm>
          <a:prstGeom prst="ellipse">
            <a:avLst/>
          </a:prstGeom>
          <a:solidFill>
            <a:srgbClr val="DCFCE7"/>
          </a:solidFill>
          <a:ln w="12700">
            <a:solidFill>
              <a:srgbClr val="86EFAC"/>
            </a:solidFill>
            <a:prstDash val="solid"/>
          </a:ln>
        </p:spPr>
      </p:sp>
      <p:sp>
        <p:nvSpPr>
          <p:cNvPr id="11" name="Text 9"/>
          <p:cNvSpPr/>
          <p:nvPr/>
        </p:nvSpPr>
        <p:spPr>
          <a:xfrm>
            <a:off x="640080" y="2157984"/>
            <a:ext cx="320040" cy="301752"/>
          </a:xfrm>
          <a:prstGeom prst="rect">
            <a:avLst/>
          </a:prstGeom>
          <a:noFill/>
          <a:ln/>
        </p:spPr>
        <p:txBody>
          <a:bodyPr wrap="square" rtlCol="0" anchor="ctr"/>
          <a:lstStyle/>
          <a:p>
            <a:pPr algn="ctr" indent="0" marL="0">
              <a:buNone/>
            </a:pPr>
            <a:r>
              <a:rPr lang="en-US" sz="1200" b="1" dirty="0">
                <a:solidFill>
                  <a:srgbClr val="166534"/>
                </a:solidFill>
                <a:latin typeface="Aptos" pitchFamily="34" charset="0"/>
                <a:ea typeface="Aptos" pitchFamily="34" charset="-122"/>
                <a:cs typeface="Aptos" pitchFamily="34" charset="-120"/>
              </a:rPr>
              <a:t>✓</a:t>
            </a:r>
            <a:endParaRPr lang="en-US" sz="1200" dirty="0"/>
          </a:p>
        </p:txBody>
      </p:sp>
      <p:sp>
        <p:nvSpPr>
          <p:cNvPr id="12" name="Text 10"/>
          <p:cNvSpPr/>
          <p:nvPr/>
        </p:nvSpPr>
        <p:spPr>
          <a:xfrm>
            <a:off x="1051560" y="2130552"/>
            <a:ext cx="4892040" cy="365760"/>
          </a:xfrm>
          <a:prstGeom prst="rect">
            <a:avLst/>
          </a:prstGeom>
          <a:noFill/>
          <a:ln/>
        </p:spPr>
        <p:txBody>
          <a:bodyPr wrap="square" rtlCol="0" anchor="ctr"/>
          <a:lstStyle/>
          <a:p>
            <a:pPr indent="0" marL="0">
              <a:buNone/>
            </a:pPr>
            <a:r>
              <a:rPr lang="en-US" sz="1200" dirty="0">
                <a:solidFill>
                  <a:srgbClr val="1E293B"/>
                </a:solidFill>
                <a:latin typeface="Aptos" pitchFamily="34" charset="0"/>
                <a:ea typeface="Aptos" pitchFamily="34" charset="-122"/>
                <a:cs typeface="Aptos" pitchFamily="34" charset="-120"/>
              </a:rPr>
              <a:t>The Solar System is a collection of celestial objects that orbit around the Sun, including planets, dwarf planets, asteroids, comets, and other smaller bodies (Slide 1).</a:t>
            </a:r>
            <a:endParaRPr lang="en-US" sz="1200" dirty="0"/>
          </a:p>
        </p:txBody>
      </p:sp>
      <p:sp>
        <p:nvSpPr>
          <p:cNvPr id="13" name="Shape 11"/>
          <p:cNvSpPr/>
          <p:nvPr/>
        </p:nvSpPr>
        <p:spPr>
          <a:xfrm>
            <a:off x="548640" y="2743200"/>
            <a:ext cx="5486400" cy="594360"/>
          </a:xfrm>
          <a:prstGeom prst="roundRect">
            <a:avLst>
              <a:gd name="adj" fmla="val 9231"/>
            </a:avLst>
          </a:prstGeom>
          <a:solidFill>
            <a:srgbClr val="FFFFFF"/>
          </a:solidFill>
          <a:ln w="12700">
            <a:solidFill>
              <a:srgbClr val="DCE3F1"/>
            </a:solidFill>
            <a:prstDash val="solid"/>
          </a:ln>
          <a:effectLst>
            <a:outerShdw sx="100000" sy="100000" kx="0" ky="0" algn="bl" rotWithShape="0" blurRad="25400" dist="50800" dir="2700000">
              <a:srgbClr val="999999">
                <a:alpha val="7000"/>
              </a:srgbClr>
            </a:outerShdw>
          </a:effectLst>
        </p:spPr>
      </p:sp>
      <p:sp>
        <p:nvSpPr>
          <p:cNvPr id="14" name="Shape 12"/>
          <p:cNvSpPr/>
          <p:nvPr/>
        </p:nvSpPr>
        <p:spPr>
          <a:xfrm>
            <a:off x="640080" y="2880360"/>
            <a:ext cx="320040" cy="320040"/>
          </a:xfrm>
          <a:prstGeom prst="ellipse">
            <a:avLst/>
          </a:prstGeom>
          <a:solidFill>
            <a:srgbClr val="DCFCE7"/>
          </a:solidFill>
          <a:ln w="12700">
            <a:solidFill>
              <a:srgbClr val="86EFAC"/>
            </a:solidFill>
            <a:prstDash val="solid"/>
          </a:ln>
        </p:spPr>
      </p:sp>
      <p:sp>
        <p:nvSpPr>
          <p:cNvPr id="15" name="Text 13"/>
          <p:cNvSpPr/>
          <p:nvPr/>
        </p:nvSpPr>
        <p:spPr>
          <a:xfrm>
            <a:off x="640080" y="2889504"/>
            <a:ext cx="320040" cy="301752"/>
          </a:xfrm>
          <a:prstGeom prst="rect">
            <a:avLst/>
          </a:prstGeom>
          <a:noFill/>
          <a:ln/>
        </p:spPr>
        <p:txBody>
          <a:bodyPr wrap="square" rtlCol="0" anchor="ctr"/>
          <a:lstStyle/>
          <a:p>
            <a:pPr algn="ctr" indent="0" marL="0">
              <a:buNone/>
            </a:pPr>
            <a:r>
              <a:rPr lang="en-US" sz="1200" b="1" dirty="0">
                <a:solidFill>
                  <a:srgbClr val="166534"/>
                </a:solidFill>
                <a:latin typeface="Aptos" pitchFamily="34" charset="0"/>
                <a:ea typeface="Aptos" pitchFamily="34" charset="-122"/>
                <a:cs typeface="Aptos" pitchFamily="34" charset="-120"/>
              </a:rPr>
              <a:t>✓</a:t>
            </a:r>
            <a:endParaRPr lang="en-US" sz="1200" dirty="0"/>
          </a:p>
        </p:txBody>
      </p:sp>
      <p:sp>
        <p:nvSpPr>
          <p:cNvPr id="16" name="Text 14"/>
          <p:cNvSpPr/>
          <p:nvPr/>
        </p:nvSpPr>
        <p:spPr>
          <a:xfrm>
            <a:off x="1051560" y="2862072"/>
            <a:ext cx="4892040" cy="365760"/>
          </a:xfrm>
          <a:prstGeom prst="rect">
            <a:avLst/>
          </a:prstGeom>
          <a:noFill/>
          <a:ln/>
        </p:spPr>
        <p:txBody>
          <a:bodyPr wrap="square" rtlCol="0" anchor="ctr"/>
          <a:lstStyle/>
          <a:p>
            <a:pPr indent="0" marL="0">
              <a:buNone/>
            </a:pPr>
            <a:r>
              <a:rPr lang="en-US" sz="1200" dirty="0">
                <a:solidFill>
                  <a:srgbClr val="1E293B"/>
                </a:solidFill>
                <a:latin typeface="Aptos" pitchFamily="34" charset="0"/>
                <a:ea typeface="Aptos" pitchFamily="34" charset="-122"/>
                <a:cs typeface="Aptos" pitchFamily="34" charset="-120"/>
              </a:rPr>
              <a:t>The Solar System is held together by gravity and is thought to have formed around 4.6 billion years ago from a giant cloud of gas and dust (Slide 1).</a:t>
            </a:r>
            <a:endParaRPr lang="en-US" sz="1200" dirty="0"/>
          </a:p>
        </p:txBody>
      </p:sp>
      <p:sp>
        <p:nvSpPr>
          <p:cNvPr id="17" name="Shape 15"/>
          <p:cNvSpPr/>
          <p:nvPr/>
        </p:nvSpPr>
        <p:spPr>
          <a:xfrm>
            <a:off x="6309360" y="2011680"/>
            <a:ext cx="5394960" cy="594360"/>
          </a:xfrm>
          <a:prstGeom prst="roundRect">
            <a:avLst>
              <a:gd name="adj" fmla="val 9231"/>
            </a:avLst>
          </a:prstGeom>
          <a:solidFill>
            <a:srgbClr val="FFFFFF"/>
          </a:solidFill>
          <a:ln w="12700">
            <a:solidFill>
              <a:srgbClr val="DCE3F1"/>
            </a:solidFill>
            <a:prstDash val="solid"/>
          </a:ln>
          <a:effectLst>
            <a:outerShdw sx="100000" sy="100000" kx="0" ky="0" algn="bl" rotWithShape="0" blurRad="25400" dist="50800" dir="2700000">
              <a:srgbClr val="999999">
                <a:alpha val="7000"/>
              </a:srgbClr>
            </a:outerShdw>
          </a:effectLst>
        </p:spPr>
      </p:sp>
      <p:sp>
        <p:nvSpPr>
          <p:cNvPr id="18" name="Shape 16"/>
          <p:cNvSpPr/>
          <p:nvPr/>
        </p:nvSpPr>
        <p:spPr>
          <a:xfrm>
            <a:off x="6400800" y="2148840"/>
            <a:ext cx="320040" cy="320040"/>
          </a:xfrm>
          <a:prstGeom prst="ellipse">
            <a:avLst/>
          </a:prstGeom>
          <a:solidFill>
            <a:srgbClr val="DCFCE7"/>
          </a:solidFill>
          <a:ln w="12700">
            <a:solidFill>
              <a:srgbClr val="86EFAC"/>
            </a:solidFill>
            <a:prstDash val="solid"/>
          </a:ln>
        </p:spPr>
      </p:sp>
      <p:sp>
        <p:nvSpPr>
          <p:cNvPr id="19" name="Text 17"/>
          <p:cNvSpPr/>
          <p:nvPr/>
        </p:nvSpPr>
        <p:spPr>
          <a:xfrm>
            <a:off x="6400800" y="2157984"/>
            <a:ext cx="320040" cy="301752"/>
          </a:xfrm>
          <a:prstGeom prst="rect">
            <a:avLst/>
          </a:prstGeom>
          <a:noFill/>
          <a:ln/>
        </p:spPr>
        <p:txBody>
          <a:bodyPr wrap="square" rtlCol="0" anchor="ctr"/>
          <a:lstStyle/>
          <a:p>
            <a:pPr algn="ctr" indent="0" marL="0">
              <a:buNone/>
            </a:pPr>
            <a:r>
              <a:rPr lang="en-US" sz="1200" b="1" dirty="0">
                <a:solidFill>
                  <a:srgbClr val="166534"/>
                </a:solidFill>
                <a:latin typeface="Aptos" pitchFamily="34" charset="0"/>
                <a:ea typeface="Aptos" pitchFamily="34" charset="-122"/>
                <a:cs typeface="Aptos" pitchFamily="34" charset="-120"/>
              </a:rPr>
              <a:t>✓</a:t>
            </a:r>
            <a:endParaRPr lang="en-US" sz="1200" dirty="0"/>
          </a:p>
        </p:txBody>
      </p:sp>
      <p:sp>
        <p:nvSpPr>
          <p:cNvPr id="20" name="Text 18"/>
          <p:cNvSpPr/>
          <p:nvPr/>
        </p:nvSpPr>
        <p:spPr>
          <a:xfrm>
            <a:off x="6812280" y="2130552"/>
            <a:ext cx="4800600" cy="365760"/>
          </a:xfrm>
          <a:prstGeom prst="rect">
            <a:avLst/>
          </a:prstGeom>
          <a:noFill/>
          <a:ln/>
        </p:spPr>
        <p:txBody>
          <a:bodyPr wrap="square" rtlCol="0" anchor="ctr"/>
          <a:lstStyle/>
          <a:p>
            <a:pPr indent="0" marL="0">
              <a:buNone/>
            </a:pPr>
            <a:r>
              <a:rPr lang="en-US" sz="1200" dirty="0">
                <a:solidFill>
                  <a:srgbClr val="1E293B"/>
                </a:solidFill>
                <a:latin typeface="Aptos" pitchFamily="34" charset="0"/>
                <a:ea typeface="Aptos" pitchFamily="34" charset="-122"/>
                <a:cs typeface="Aptos" pitchFamily="34" charset="-120"/>
              </a:rPr>
              <a:t>The Sun is the center of the Solar System and is the primary source of light and energy for our planet (Slide 3).</a:t>
            </a:r>
            <a:endParaRPr lang="en-US" sz="1200" dirty="0"/>
          </a:p>
        </p:txBody>
      </p:sp>
      <p:sp>
        <p:nvSpPr>
          <p:cNvPr id="21" name="Shape 19"/>
          <p:cNvSpPr/>
          <p:nvPr/>
        </p:nvSpPr>
        <p:spPr>
          <a:xfrm>
            <a:off x="6309360" y="2743200"/>
            <a:ext cx="5394960" cy="594360"/>
          </a:xfrm>
          <a:prstGeom prst="roundRect">
            <a:avLst>
              <a:gd name="adj" fmla="val 9231"/>
            </a:avLst>
          </a:prstGeom>
          <a:solidFill>
            <a:srgbClr val="FFFFFF"/>
          </a:solidFill>
          <a:ln w="12700">
            <a:solidFill>
              <a:srgbClr val="DCE3F1"/>
            </a:solidFill>
            <a:prstDash val="solid"/>
          </a:ln>
          <a:effectLst>
            <a:outerShdw sx="100000" sy="100000" kx="0" ky="0" algn="bl" rotWithShape="0" blurRad="25400" dist="50800" dir="2700000">
              <a:srgbClr val="999999">
                <a:alpha val="7000"/>
              </a:srgbClr>
            </a:outerShdw>
          </a:effectLst>
        </p:spPr>
      </p:sp>
      <p:sp>
        <p:nvSpPr>
          <p:cNvPr id="22" name="Shape 20"/>
          <p:cNvSpPr/>
          <p:nvPr/>
        </p:nvSpPr>
        <p:spPr>
          <a:xfrm>
            <a:off x="6400800" y="2880360"/>
            <a:ext cx="320040" cy="320040"/>
          </a:xfrm>
          <a:prstGeom prst="ellipse">
            <a:avLst/>
          </a:prstGeom>
          <a:solidFill>
            <a:srgbClr val="DCFCE7"/>
          </a:solidFill>
          <a:ln w="12700">
            <a:solidFill>
              <a:srgbClr val="86EFAC"/>
            </a:solidFill>
            <a:prstDash val="solid"/>
          </a:ln>
        </p:spPr>
      </p:sp>
      <p:sp>
        <p:nvSpPr>
          <p:cNvPr id="23" name="Text 21"/>
          <p:cNvSpPr/>
          <p:nvPr/>
        </p:nvSpPr>
        <p:spPr>
          <a:xfrm>
            <a:off x="6400800" y="2889504"/>
            <a:ext cx="320040" cy="301752"/>
          </a:xfrm>
          <a:prstGeom prst="rect">
            <a:avLst/>
          </a:prstGeom>
          <a:noFill/>
          <a:ln/>
        </p:spPr>
        <p:txBody>
          <a:bodyPr wrap="square" rtlCol="0" anchor="ctr"/>
          <a:lstStyle/>
          <a:p>
            <a:pPr algn="ctr" indent="0" marL="0">
              <a:buNone/>
            </a:pPr>
            <a:r>
              <a:rPr lang="en-US" sz="1200" b="1" dirty="0">
                <a:solidFill>
                  <a:srgbClr val="166534"/>
                </a:solidFill>
                <a:latin typeface="Aptos" pitchFamily="34" charset="0"/>
                <a:ea typeface="Aptos" pitchFamily="34" charset="-122"/>
                <a:cs typeface="Aptos" pitchFamily="34" charset="-120"/>
              </a:rPr>
              <a:t>✓</a:t>
            </a:r>
            <a:endParaRPr lang="en-US" sz="1200" dirty="0"/>
          </a:p>
        </p:txBody>
      </p:sp>
      <p:sp>
        <p:nvSpPr>
          <p:cNvPr id="24" name="Text 22"/>
          <p:cNvSpPr/>
          <p:nvPr/>
        </p:nvSpPr>
        <p:spPr>
          <a:xfrm>
            <a:off x="6812280" y="2862072"/>
            <a:ext cx="4800600" cy="365760"/>
          </a:xfrm>
          <a:prstGeom prst="rect">
            <a:avLst/>
          </a:prstGeom>
          <a:noFill/>
          <a:ln/>
        </p:spPr>
        <p:txBody>
          <a:bodyPr wrap="square" rtlCol="0" anchor="ctr"/>
          <a:lstStyle/>
          <a:p>
            <a:pPr indent="0" marL="0">
              <a:buNone/>
            </a:pPr>
            <a:r>
              <a:rPr lang="en-US" sz="1200" dirty="0">
                <a:solidFill>
                  <a:srgbClr val="1E293B"/>
                </a:solidFill>
                <a:latin typeface="Aptos" pitchFamily="34" charset="0"/>
                <a:ea typeface="Aptos" pitchFamily="34" charset="-122"/>
                <a:cs typeface="Aptos" pitchFamily="34" charset="-120"/>
              </a:rPr>
              <a:t>The Solar System is thought to have formed around 4.6 billion years ago from a giant cloud of gas and dust called the solar nebula (Slide 5)</a:t>
            </a:r>
            <a:endParaRPr lang="en-US" sz="1200" dirty="0"/>
          </a:p>
        </p:txBody>
      </p:sp>
      <p:sp>
        <p:nvSpPr>
          <p:cNvPr id="25" name="Shape 23"/>
          <p:cNvSpPr/>
          <p:nvPr/>
        </p:nvSpPr>
        <p:spPr>
          <a:xfrm>
            <a:off x="548640" y="3749040"/>
            <a:ext cx="11064240" cy="777240"/>
          </a:xfrm>
          <a:prstGeom prst="roundRect">
            <a:avLst>
              <a:gd name="adj" fmla="val 9412"/>
            </a:avLst>
          </a:prstGeom>
          <a:solidFill>
            <a:srgbClr val="CCFBF1"/>
          </a:solidFill>
          <a:ln w="12700">
            <a:solidFill>
              <a:srgbClr val="14B8A6"/>
            </a:solidFill>
            <a:prstDash val="solid"/>
          </a:ln>
          <a:effectLst>
            <a:outerShdw sx="100000" sy="100000" kx="0" ky="0" algn="bl" rotWithShape="0" blurRad="38100" dist="50800" dir="2700000">
              <a:srgbClr val="000000">
                <a:alpha val="8000"/>
              </a:srgbClr>
            </a:outerShdw>
          </a:effectLst>
        </p:spPr>
      </p:sp>
      <p:sp>
        <p:nvSpPr>
          <p:cNvPr id="26" name="Text 24"/>
          <p:cNvSpPr/>
          <p:nvPr/>
        </p:nvSpPr>
        <p:spPr>
          <a:xfrm>
            <a:off x="685800" y="3840480"/>
            <a:ext cx="457200" cy="45720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1188720" y="3822192"/>
            <a:ext cx="1371600" cy="320040"/>
          </a:xfrm>
          <a:prstGeom prst="rect">
            <a:avLst/>
          </a:prstGeom>
          <a:noFill/>
          <a:ln/>
        </p:spPr>
        <p:txBody>
          <a:bodyPr wrap="square" rtlCol="0" anchor="ctr"/>
          <a:lstStyle/>
          <a:p>
            <a:pPr indent="0" marL="0">
              <a:buNone/>
            </a:pPr>
            <a:r>
              <a:rPr lang="en-US" sz="1200" b="1" dirty="0">
                <a:solidFill>
                  <a:srgbClr val="0F766E"/>
                </a:solidFill>
                <a:latin typeface="Aptos Display" pitchFamily="34" charset="0"/>
                <a:ea typeface="Aptos Display" pitchFamily="34" charset="-122"/>
                <a:cs typeface="Aptos Display" pitchFamily="34" charset="-120"/>
              </a:rPr>
              <a:t>Remember:</a:t>
            </a:r>
            <a:endParaRPr lang="en-US" sz="1200" dirty="0"/>
          </a:p>
        </p:txBody>
      </p:sp>
      <p:sp>
        <p:nvSpPr>
          <p:cNvPr id="28" name="Text 26"/>
          <p:cNvSpPr/>
          <p:nvPr/>
        </p:nvSpPr>
        <p:spPr>
          <a:xfrm>
            <a:off x="1188720" y="4114800"/>
            <a:ext cx="10058400" cy="347472"/>
          </a:xfrm>
          <a:prstGeom prst="rect">
            <a:avLst/>
          </a:prstGeom>
          <a:noFill/>
          <a:ln/>
        </p:spPr>
        <p:txBody>
          <a:bodyPr wrap="square" rtlCol="0" anchor="ctr"/>
          <a:lstStyle/>
          <a:p>
            <a:pPr indent="0" marL="0">
              <a:buNone/>
            </a:pPr>
            <a:r>
              <a:rPr lang="en-US" sz="1200" i="1" dirty="0">
                <a:solidFill>
                  <a:srgbClr val="1E293B"/>
                </a:solidFill>
                <a:latin typeface="Aptos" pitchFamily="34" charset="0"/>
                <a:ea typeface="Aptos" pitchFamily="34" charset="-122"/>
                <a:cs typeface="Aptos" pitchFamily="34" charset="-120"/>
              </a:rPr>
              <a:t>The Solar System is held together by gravity and is thought to have formed around 4.6 billion years ago</a:t>
            </a:r>
            <a:endParaRPr lang="en-US" sz="1200" dirty="0"/>
          </a:p>
        </p:txBody>
      </p:sp>
      <p:sp>
        <p:nvSpPr>
          <p:cNvPr id="29" name="Shape 27"/>
          <p:cNvSpPr/>
          <p:nvPr/>
        </p:nvSpPr>
        <p:spPr>
          <a:xfrm>
            <a:off x="548640" y="6446520"/>
            <a:ext cx="11064240" cy="0"/>
          </a:xfrm>
          <a:prstGeom prst="line">
            <a:avLst/>
          </a:prstGeom>
          <a:noFill/>
          <a:ln w="12700">
            <a:solidFill>
              <a:srgbClr val="DCE3F1"/>
            </a:solidFill>
            <a:prstDash val="solid"/>
          </a:ln>
        </p:spPr>
      </p:sp>
      <p:sp>
        <p:nvSpPr>
          <p:cNvPr id="30" name="Text 28"/>
          <p:cNvSpPr/>
          <p:nvPr/>
        </p:nvSpPr>
        <p:spPr>
          <a:xfrm>
            <a:off x="548640" y="6492240"/>
            <a:ext cx="8229600" cy="228600"/>
          </a:xfrm>
          <a:prstGeom prst="rect">
            <a:avLst/>
          </a:prstGeom>
          <a:noFill/>
          <a:ln/>
        </p:spPr>
        <p:txBody>
          <a:bodyPr wrap="square" rtlCol="0" anchor="ctr"/>
          <a:lstStyle/>
          <a:p>
            <a:pPr indent="0" marL="0">
              <a:buNone/>
            </a:pPr>
            <a:r>
              <a:rPr lang="en-US" sz="800" dirty="0">
                <a:solidFill>
                  <a:srgbClr val="64748B"/>
                </a:solidFill>
                <a:latin typeface="Aptos" pitchFamily="34" charset="0"/>
                <a:ea typeface="Aptos" pitchFamily="34" charset="-122"/>
                <a:cs typeface="Aptos" pitchFamily="34" charset="-120"/>
              </a:rPr>
              <a:t>The Solar System  ·  Science  ·  Class 6</a:t>
            </a:r>
            <a:endParaRPr lang="en-US" sz="800" dirty="0"/>
          </a:p>
        </p:txBody>
      </p:sp>
      <p:sp>
        <p:nvSpPr>
          <p:cNvPr id="31" name="Text 29"/>
          <p:cNvSpPr/>
          <p:nvPr/>
        </p:nvSpPr>
        <p:spPr>
          <a:xfrm>
            <a:off x="9144000" y="6492240"/>
            <a:ext cx="2834640" cy="228600"/>
          </a:xfrm>
          <a:prstGeom prst="rect">
            <a:avLst/>
          </a:prstGeom>
          <a:noFill/>
          <a:ln/>
        </p:spPr>
        <p:txBody>
          <a:bodyPr wrap="square" rtlCol="0" anchor="ctr"/>
          <a:lstStyle/>
          <a:p>
            <a:pPr algn="r" indent="0" marL="0">
              <a:buNone/>
            </a:pPr>
            <a:r>
              <a:rPr lang="en-US" sz="800" dirty="0">
                <a:solidFill>
                  <a:srgbClr val="64748B"/>
                </a:solidFill>
                <a:latin typeface="Aptos" pitchFamily="34" charset="0"/>
                <a:ea typeface="Aptos" pitchFamily="34" charset="-122"/>
                <a:cs typeface="Aptos" pitchFamily="34" charset="-120"/>
              </a:rPr>
              <a:t>AI Educational PPT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2026-06-02T12:51:02Z</dcterms:created>
  <dcterms:modified xsi:type="dcterms:W3CDTF">2026-06-02T12:51:02Z</dcterms:modified>
</cp:coreProperties>
</file>